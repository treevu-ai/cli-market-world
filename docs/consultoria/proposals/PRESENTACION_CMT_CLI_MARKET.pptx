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 Market × Caja Municipal Trujillo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CLI Market × Caja Municipal Trujillo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2C39A"/>
                </a:solidFill>
              </a:defRPr>
            </a:pPr>
            <a:r>
              <a:t>Scoring alternativo + alertas temporizadas para la expansión al norte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SINAPSIS INNOVADORA S.A.C.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 reto de la expansión norte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El reto de la expansión norte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95C"/>
                </a:solidFill>
              </a:defRPr>
            </a:pPr>
            <a:r>
              <a:t>Originar con confianza sin historial crediticio tradicional</a:t>
            </a:r>
          </a:p>
          <a:p>
            <a:pPr>
              <a:defRPr sz="1800">
                <a:solidFill>
                  <a:srgbClr val="21295C"/>
                </a:solidFill>
              </a:defRPr>
            </a:pPr>
            <a:r>
              <a:t>Anticipar deterioro de pago ante shocks de costo de vida</a:t>
            </a:r>
          </a:p>
          <a:p>
            <a:pPr>
              <a:defRPr sz="1800">
                <a:solidFill>
                  <a:srgbClr val="21295C"/>
                </a:solidFill>
              </a:defRPr>
            </a:pPr>
            <a:r>
              <a:t>Heterogeneidad de precios entre ciudades y cadenas</a:t>
            </a:r>
          </a:p>
          <a:p>
            <a:pPr>
              <a:defRPr sz="1800">
                <a:solidFill>
                  <a:srgbClr val="21295C"/>
                </a:solidFill>
              </a:defRPr>
            </a:pPr>
            <a:r>
              <a:t>INEI y buró no bastan para decidir hoy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 Market en una diapositiva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CLI Market en una diapositiva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090"/>
                </a:solidFill>
              </a:defRPr>
            </a:pPr>
            <a:r>
              <a:t>46K+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95C"/>
                </a:solidFill>
              </a:defRPr>
            </a:pPr>
            <a:r>
              <a:t>precios indexados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090"/>
                </a:solidFill>
              </a:defRPr>
            </a:pPr>
            <a:r>
              <a:t>4h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95C"/>
                </a:solidFill>
              </a:defRPr>
            </a:pPr>
            <a:r>
              <a:t>ciclo de refresco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090"/>
                </a:solidFill>
              </a:defRPr>
            </a:pPr>
            <a:r>
              <a:t>68+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95C"/>
                </a:solidFill>
              </a:defRPr>
            </a:pPr>
            <a:r>
              <a:t>retailers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090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95C"/>
                </a:solidFill>
              </a:defRPr>
            </a:pPr>
            <a:r>
              <a:t>países LATAM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API producción: https://cli-market-api.fly.dev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Reforzar scoring alternativo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Reforzar scoring alternativo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95C"/>
                </a:solidFill>
              </a:defRPr>
            </a:pPr>
            <a:r>
              <a:t>basket_stress_index → capacidad de pago residual</a:t>
            </a:r>
          </a:p>
          <a:p>
            <a:pPr>
              <a:defRPr sz="1600">
                <a:solidFill>
                  <a:srgbClr val="21295C"/>
                </a:solidFill>
              </a:defRPr>
            </a:pPr>
            <a:r>
              <a:t>Scores compuestos (fairness, stress, labor_stress…)</a:t>
            </a:r>
          </a:p>
          <a:p>
            <a:pPr>
              <a:defRPr sz="1600">
                <a:solidFill>
                  <a:srgbClr val="21295C"/>
                </a:solidFill>
              </a:defRPr>
            </a:pPr>
            <a:r>
              <a:t>Momentum subcategorías: arroz, leche, aceite</a:t>
            </a:r>
          </a:p>
          <a:p>
            <a:pPr>
              <a:defRPr sz="1600">
                <a:solidFill>
                  <a:srgbClr val="21295C"/>
                </a:solidFill>
              </a:defRPr>
            </a:pPr>
            <a:r>
              <a:t>Dispersión y canasta → affordability</a:t>
            </a:r>
          </a:p>
          <a:p>
            <a:pPr>
              <a:defRPr sz="1600">
                <a:solidFill>
                  <a:srgbClr val="21295C"/>
                </a:solidFill>
              </a:defRPr>
            </a:pPr>
            <a:r>
              <a:t>Variables explicables · SBS-ready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Timer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Timer de alertas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2C39A"/>
                </a:solidFill>
              </a:defRPr>
            </a:pPr>
            <a:r>
              <a:t>Early warning cada 4 horas · cooldown 1–720h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price_jump / price_drop / price_min_30d / dispersion_anomaly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→ evaluación post-collector → cooldown → webhook Enterprise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→ flag cartera · cobranza preventiva · ajuste 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 vs. sin CLI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Con vs. sin CLI Market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Dimensión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Sin CLI Market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 CLI Market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Calibración nueva ciudad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Días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Shock de precios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Post-mora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&lt; 24h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Explicabilidad 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Opaco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95C"/>
                          </a:solidFill>
                        </a:defRPr>
                      </a:pPr>
                      <a:r>
                        <a:t>Auditado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Piloto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Piloto 90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Sem 1–2: Descubrimiento + 5 alertas</a:t>
            </a:r>
          </a:p>
          <a:p>
            <a:pPr>
              <a:defRPr sz="1600"/>
            </a:pPr>
            <a:r>
              <a:t>Sem 3–6: Integración UAT + webhook</a:t>
            </a:r>
          </a:p>
          <a:p>
            <a:pPr>
              <a:defRPr sz="1600"/>
            </a:pPr>
            <a:r>
              <a:t>Sem 7–10: Backtest vs. mora La Libertad</a:t>
            </a:r>
          </a:p>
          <a:p>
            <a:pPr>
              <a:defRPr sz="1600"/>
            </a:pPr>
            <a:r>
              <a:t>Sem 11–12: Go/No-Go Directorio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+3–5 pts KS</a:t>
            </a:r>
          </a:p>
          <a:p>
            <a:pPr>
              <a:defRPr sz="1400">
                <a:solidFill>
                  <a:srgbClr val="21295C"/>
                </a:solidFill>
              </a:defRPr>
            </a:pPr>
            <a:r>
              <a:t>Reacción &lt;24h</a:t>
            </a:r>
          </a:p>
          <a:p>
            <a:pPr>
              <a:defRPr sz="1400">
                <a:solidFill>
                  <a:srgbClr val="21295C"/>
                </a:solidFill>
              </a:defRPr>
            </a:pPr>
            <a:r>
              <a:t>&gt;70% alertas útiles</a:t>
            </a:r>
          </a:p>
          <a:p>
            <a:pPr>
              <a:defRPr sz="1400">
                <a:solidFill>
                  <a:srgbClr val="21295C"/>
                </a:solidFill>
              </a:defRPr>
            </a:pPr>
            <a:r>
              <a:t>SLA 99.5%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 costo de vida observable</a:t>
            </a:r>
          </a:p>
          <a:p>
            <a:r>
              <a:t>como infraestructura de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 costo de vida observable</a:t>
            </a:r>
          </a:p>
          <a:p>
            <a:r>
              <a:t>como infraestructura de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2C39A"/>
                </a:solidFill>
              </a:defRPr>
            </a:pPr>
            <a:r>
              <a:t>Demo 45 min · cli-market.dev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2C39A"/>
                </a:solidFill>
              </a:defRPr>
            </a:pPr>
            <a:r>
              <a:t>https://cli-market-api.fly.dev/docs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